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ln w="9525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CSA0311 – DATA STRUCTURES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PEER REVIEW TOPIC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 flipH="1">
            <a:off x="4572000" y="2377440"/>
            <a:ext cx="1143000" cy="685800"/>
          </a:xfrm>
          <a:prstGeom prst="line">
            <a:avLst/>
          </a:prstGeom>
          <a:noFill/>
          <a:ln w="19050">
            <a:solidFill>
              <a:srgbClr val="AAB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2377440"/>
            <a:ext cx="0" cy="685800"/>
          </a:xfrm>
          <a:prstGeom prst="line">
            <a:avLst/>
          </a:prstGeom>
          <a:noFill/>
          <a:ln w="19050">
            <a:solidFill>
              <a:srgbClr val="AAB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0" y="2377440"/>
            <a:ext cx="1143000" cy="685800"/>
          </a:xfrm>
          <a:prstGeom prst="line">
            <a:avLst/>
          </a:prstGeom>
          <a:noFill/>
          <a:ln w="19050">
            <a:solidFill>
              <a:srgbClr val="AAB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4572000" y="3291840"/>
            <a:ext cx="228600" cy="457200"/>
          </a:xfrm>
          <a:prstGeom prst="line">
            <a:avLst/>
          </a:prstGeom>
          <a:noFill/>
          <a:ln w="19050">
            <a:solidFill>
              <a:srgbClr val="AAB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0" y="3291840"/>
            <a:ext cx="0" cy="457200"/>
          </a:xfrm>
          <a:prstGeom prst="line">
            <a:avLst/>
          </a:prstGeom>
          <a:noFill/>
          <a:ln w="19050">
            <a:solidFill>
              <a:srgbClr val="AAB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2148840"/>
            <a:ext cx="457200" cy="45720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0" y="2148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3063240"/>
            <a:ext cx="457200" cy="457200"/>
          </a:xfrm>
          <a:prstGeom prst="ellipse">
            <a:avLst/>
          </a:prstGeom>
          <a:solidFill>
            <a:srgbClr val="1B4FCC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3063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0" y="3063240"/>
            <a:ext cx="457200" cy="457200"/>
          </a:xfrm>
          <a:prstGeom prst="ellipse">
            <a:avLst/>
          </a:prstGeom>
          <a:solidFill>
            <a:srgbClr val="1B4FCC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15000" y="3063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3063240"/>
            <a:ext cx="457200" cy="457200"/>
          </a:xfrm>
          <a:prstGeom prst="ellipse">
            <a:avLst/>
          </a:prstGeom>
          <a:solidFill>
            <a:srgbClr val="1B4FCC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3063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3749040"/>
            <a:ext cx="457200" cy="45720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A*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15000" y="3749040"/>
            <a:ext cx="457200" cy="45720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15000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O*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TRIE TREE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An Efficient Prefix Tree for String Storage and Search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Presented by: </a:t>
            </a:r>
            <a:r>
              <a:rPr lang="en-IN" alt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Monica Sentamil K</a:t>
            </a:r>
            <a:endParaRPr lang="en-IN" altLang="en-US" sz="1800" dirty="0">
              <a:solidFill>
                <a:srgbClr val="000000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   </a:t>
            </a:r>
            <a:r>
              <a:rPr lang="en-IN" alt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Sweta R</a:t>
            </a:r>
            <a:endParaRPr lang="en-IN" altLang="en-US" sz="1800" dirty="0">
              <a:solidFill>
                <a:srgbClr val="000000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Definition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 Trie (pronounced "try", from reTRIEval) is a tree-based data structure used to store a dynamic set of strings, where keys are usually strings. Unlike a binary search tree, no node stores the whole key; instead, each node represents a single character, and a key is spelled out along the path from the root to a marked end node.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Core Properties: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1. The root node represents an empty string / prefix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2. Each edge is labeled with a single character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3. Nodes along a path spell out common prefixes shared by multiple words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4. A special marker (end-of-word flag) shows where a valid word ends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5. Search, insert, and delete run in O(L), where L is the length of the key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Because lookup time depends only on key length, not the number of stored words, tries scale extremely well.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How a Trie Is Built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1. Insertion: Walk from the root one character at a time; create a new child node whenever the needed character edge is missing, then mark the last node as end-of-word.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2. Search: Walk the same way; if every character's edge exists and the final node is marked end-of-word, the key is present.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3. Prefix Matching: Stopping the walk early (without needing an end-of-word marker) tells you instantly whether any stored word starts with a given prefix.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1363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Example: inserting "CAT" and "CAR"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 flipH="1">
            <a:off x="3200400" y="3886200"/>
            <a:ext cx="201168" cy="621792"/>
          </a:xfrm>
          <a:prstGeom prst="line">
            <a:avLst/>
          </a:prstGeom>
          <a:noFill/>
          <a:ln w="19050">
            <a:solidFill>
              <a:srgbClr val="AAB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4709160"/>
            <a:ext cx="0" cy="438912"/>
          </a:xfrm>
          <a:prstGeom prst="line">
            <a:avLst/>
          </a:prstGeom>
          <a:noFill/>
          <a:ln w="19050">
            <a:solidFill>
              <a:srgbClr val="AAB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2651760" y="5349240"/>
            <a:ext cx="749808" cy="438912"/>
          </a:xfrm>
          <a:prstGeom prst="line">
            <a:avLst/>
          </a:prstGeom>
          <a:noFill/>
          <a:ln w="19050">
            <a:solidFill>
              <a:srgbClr val="AAB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5349240"/>
            <a:ext cx="758952" cy="438912"/>
          </a:xfrm>
          <a:prstGeom prst="line">
            <a:avLst/>
          </a:prstGeom>
          <a:noFill/>
          <a:ln w="19050">
            <a:solidFill>
              <a:srgbClr val="AAB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3685032"/>
            <a:ext cx="402336" cy="402336"/>
          </a:xfrm>
          <a:prstGeom prst="ellipse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368503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•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4507992"/>
            <a:ext cx="402336" cy="402336"/>
          </a:xfrm>
          <a:prstGeom prst="ellipse">
            <a:avLst/>
          </a:prstGeom>
          <a:solidFill>
            <a:srgbClr val="1B4FCC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450799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5148072"/>
            <a:ext cx="402336" cy="402336"/>
          </a:xfrm>
          <a:prstGeom prst="ellipse">
            <a:avLst/>
          </a:prstGeom>
          <a:solidFill>
            <a:srgbClr val="1B4FCC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51480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5788152"/>
            <a:ext cx="402336" cy="402336"/>
          </a:xfrm>
          <a:prstGeom prst="ellipse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51760" y="57881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T*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0520" y="5788152"/>
            <a:ext cx="402336" cy="402336"/>
          </a:xfrm>
          <a:prstGeom prst="ellipse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60520" y="57881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R*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3867912"/>
            <a:ext cx="55778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Nodes C and A are shared by both words — only the branch after A splits into T and R, saving storage versus keeping two separate strings.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Real-World Applications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1. Autocomplete &amp; Predictive Text: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Search engines, IDEs, and mobile keyboards use tries to suggest completions as a user types a prefix.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2. Spell Checkers: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Dictionaries stored as tries let an application quickly verify whether a word exists or suggest close matches.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3. IP Routing: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Routers use tries (specifically Patricia/radix tries) to match the longest prefix of an IP address to a routing rule.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4. Word Games &amp; NLP: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Tries power efficient word-validity checks in games like Scrabble/Boggle and prefix-based text-processing pipelines.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Worked Example: Building a Trie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Inserting the words: "GO", "GOD", "GOLD", "GOOD" one at a time into an initially empty trie.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1. Insert "GO" → create nodes G → O, mark O as end-of-word.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58568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2. Insert "GOD" → reuse G → O, add new node D, mark D as end-of-word.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825496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3. Insert "GOLD" → reuse G → O, add branch L → D, mark D as end-of-word.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392424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4. Insert "GOOD" → reuse G → O, add branch O → D, mark D as end-of-word.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Resulting Trie: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 flipH="1">
            <a:off x="8778240" y="2340864"/>
            <a:ext cx="192024" cy="466344"/>
          </a:xfrm>
          <a:prstGeom prst="line">
            <a:avLst/>
          </a:prstGeom>
          <a:noFill/>
          <a:ln w="19050">
            <a:solidFill>
              <a:srgbClr val="AAB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8778240" y="2999232"/>
            <a:ext cx="192024" cy="466344"/>
          </a:xfrm>
          <a:prstGeom prst="line">
            <a:avLst/>
          </a:prstGeom>
          <a:noFill/>
          <a:ln w="19050">
            <a:solidFill>
              <a:srgbClr val="AAB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7589520" y="3657600"/>
            <a:ext cx="1380744" cy="466344"/>
          </a:xfrm>
          <a:prstGeom prst="line">
            <a:avLst/>
          </a:prstGeom>
          <a:noFill/>
          <a:ln w="19050">
            <a:solidFill>
              <a:srgbClr val="AAB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70264" y="3657600"/>
            <a:ext cx="0" cy="466344"/>
          </a:xfrm>
          <a:prstGeom prst="line">
            <a:avLst/>
          </a:prstGeom>
          <a:noFill/>
          <a:ln w="19050">
            <a:solidFill>
              <a:srgbClr val="AAB4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70264" y="3657600"/>
            <a:ext cx="1088136" cy="466344"/>
          </a:xfrm>
          <a:prstGeom prst="line">
            <a:avLst/>
          </a:prstGeom>
          <a:noFill/>
          <a:ln w="19050">
            <a:solidFill>
              <a:srgbClr val="AAB4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7589520" y="4315968"/>
            <a:ext cx="192024" cy="466344"/>
          </a:xfrm>
          <a:prstGeom prst="line">
            <a:avLst/>
          </a:prstGeom>
          <a:noFill/>
          <a:ln w="19050">
            <a:solidFill>
              <a:srgbClr val="AAB4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10058400" y="4315968"/>
            <a:ext cx="192024" cy="466344"/>
          </a:xfrm>
          <a:prstGeom prst="line">
            <a:avLst/>
          </a:prstGeom>
          <a:noFill/>
          <a:ln w="19050">
            <a:solidFill>
              <a:srgbClr val="AAB4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2148840"/>
            <a:ext cx="384048" cy="384048"/>
          </a:xfrm>
          <a:prstGeom prst="ellipse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78240" y="21488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•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78240" y="2807208"/>
            <a:ext cx="384048" cy="384048"/>
          </a:xfrm>
          <a:prstGeom prst="ellipse">
            <a:avLst/>
          </a:prstGeom>
          <a:solidFill>
            <a:srgbClr val="1B4FCC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78240" y="28072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78240" y="3465576"/>
            <a:ext cx="384048" cy="384048"/>
          </a:xfrm>
          <a:prstGeom prst="ellipse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78240" y="34655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O*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4123944"/>
            <a:ext cx="384048" cy="384048"/>
          </a:xfrm>
          <a:prstGeom prst="ellipse">
            <a:avLst/>
          </a:prstGeom>
          <a:solidFill>
            <a:srgbClr val="1B4FCC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89520" y="41239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78240" y="4123944"/>
            <a:ext cx="384048" cy="384048"/>
          </a:xfrm>
          <a:prstGeom prst="ellipse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778240" y="41239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D*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058400" y="4123944"/>
            <a:ext cx="384048" cy="384048"/>
          </a:xfrm>
          <a:prstGeom prst="ellipse">
            <a:avLst/>
          </a:prstGeom>
          <a:solidFill>
            <a:srgbClr val="1B4FCC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58400" y="41239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89520" y="4782312"/>
            <a:ext cx="384048" cy="384048"/>
          </a:xfrm>
          <a:prstGeom prst="ellipse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89520" y="47823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D*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058400" y="4782312"/>
            <a:ext cx="384048" cy="384048"/>
          </a:xfrm>
          <a:prstGeom prst="ellipse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58400" y="47823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D*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548640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Nodes marked with * are end-of-word markers. Four words share a single G → O backbone.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2640</Words>
  <Application>WPS Presentation</Application>
  <PresentationFormat>On-screen Show (16:9)</PresentationFormat>
  <Paragraphs>105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Times New Roman</vt:lpstr>
      <vt:lpstr>Times New Roman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kuppa</cp:lastModifiedBy>
  <cp:revision>2</cp:revision>
  <dcterms:created xsi:type="dcterms:W3CDTF">2026-08-10T02:36:00Z</dcterms:created>
  <dcterms:modified xsi:type="dcterms:W3CDTF">2026-08-10T02:39:04Z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8158A8D7CECD4E8C9C29106C8913C255_12</vt:lpwstr>
  </property>
  <property fmtid="{D5CDD505-2E9C-101B-9397-08002B2CF9AE}" pid="3" name="KSOProductBuildVer">
    <vt:lpwstr>1033-12.1.0.28032</vt:lpwstr>
  </property>
</Properties>
</file>